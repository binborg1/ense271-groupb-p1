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7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7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igma.com/proto/P5gvW1SbBHGL6MCEED0zX2/APSS-Sites?node-id=10-224&amp;starting-point-node-id=10%3A224&amp;scaling=scale-down-width&amp;content-scaling=fixed&amp;hide-ui=1&amp;hotspot-hints=0" TargetMode="External"/><Relationship Id="rId3" Type="http://schemas.openxmlformats.org/officeDocument/2006/relationships/hyperlink" Target="https://www.figma.com/proto/P5gvW1SbBHGL6MCEED0zX2/APSS-Sites?node-id=18-3251&amp;starting-point-node-id=18%3A3251&amp;scaling=scale-down-width&amp;content-scaling=fixed&amp;hide-ui=1&amp;hotspot-hints=0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igma.com/proto/P5gvW1SbBHGL6MCEED0zX2/APSS-Sites?node-id=10-224&amp;starting-point-node-id=10%3A224&amp;scaling=scale-down-width&amp;content-scaling=fixed&amp;hide-ui=1&amp;hotspot-hints=0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igma.com/proto/P5gvW1SbBHGL6MCEED0zX2/APSS-Sites?node-id=17-3168&amp;starting-point-node-id=17%3A3168&amp;scaling=scale-down-width&amp;content-scaling=fixed&amp;hide-ui=1&amp;hotspot-hints=0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igma.com/proto/P5gvW1SbBHGL6MCEED0zX2/APSS-Sites?node-id=10-224&amp;starting-point-node-id=10%3A224&amp;scaling=scale-down-width&amp;content-scaling=fixed&amp;hide-ui=1&amp;hotspot-hints=0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igma.com/proto/P5gvW1SbBHGL6MCEED0zX2/APSS-Sites?node-id=10-224&amp;starting-point-node-id=10%3A224&amp;scaling=scale-down-width&amp;content-scaling=fixed&amp;hide-ui=1&amp;hotspot-hints=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igma.com/proto/P5gvW1SbBHGL6MCEED0zX2/APSS-Sites?node-id=23-912&amp;starting-point-node-id=23%3A912&amp;scaling=scale-down-width&amp;content-scaling=fixed&amp;hide-ui=1&amp;hotspot-hints=0" TargetMode="Externa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igma.com/proto/P5gvW1SbBHGL6MCEED0zX2/APSS-Sites?node-id=24-839&amp;starting-point-node-id=24%3A839&amp;scaling=scale-down-width&amp;content-scaling=fixed&amp;hide-ui=1&amp;hotspot-hints=0" TargetMode="Externa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0" y="609600"/>
            <a:ext cx="2476500" cy="1061720"/>
          </a:xfrm>
          <a:prstGeom prst="roundRect">
            <a:avLst>
              <a:gd name="adj" fmla="val 119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APS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749300"/>
            <a:ext cx="2095500" cy="782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2832100"/>
            <a:ext cx="10566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F4B400"/>
                </a:solidFill>
                <a:latin typeface="Nunito Sans"/>
              </a:rPr>
              <a:t>ENSE 271 · Group B · Checkpoint #2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3187700"/>
            <a:ext cx="10566400" cy="1473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5712"/>
              </a:lnSpc>
            </a:pPr>
            <a:r>
              <a:rPr sz="5600" b="1">
                <a:solidFill>
                  <a:srgbClr val="F6F2EE"/>
                </a:solidFill>
                <a:latin typeface="Nunito Sans"/>
              </a:rPr>
              <a:t>APSS hi-fi prototype:</a:t>
            </a:r>
            <a:br/>
            <a:r>
              <a:rPr sz="5600" b="1">
                <a:solidFill>
                  <a:srgbClr val="F6F2EE"/>
                </a:solidFill>
                <a:latin typeface="Nunito Sans"/>
              </a:rPr>
              <a:t>usability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813300"/>
            <a:ext cx="10566400" cy="355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700"/>
              </a:lnSpc>
            </a:pPr>
            <a:r>
              <a:rPr sz="2000" b="0">
                <a:solidFill>
                  <a:srgbClr val="CFC8C1"/>
                </a:solidFill>
                <a:latin typeface="Nunito Sans"/>
              </a:rPr>
              <a:t>With Erin Hidlebaugh (AIDS Programs South Saskatchewan) and Dr. Tim Maciag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5384800"/>
            <a:ext cx="105664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240"/>
              </a:lnSpc>
            </a:pPr>
            <a:r>
              <a:rPr sz="1600" b="0">
                <a:solidFill>
                  <a:srgbClr val="CFC8C1"/>
                </a:solidFill>
                <a:latin typeface="Nunito Sans"/>
              </a:rPr>
              <a:t>Wednesday, October 21, 2026 · 11:45 to 12:00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708650"/>
            <a:ext cx="105664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240"/>
              </a:lnSpc>
            </a:pPr>
            <a:r>
              <a:rPr sz="1600" b="0">
                <a:solidFill>
                  <a:srgbClr val="CFC8C1"/>
                </a:solidFill>
                <a:latin typeface="Nunito Sans"/>
              </a:rPr>
              <a:t>Jacob Liu · Mohammed Saad Shaik · Aubin Chriss Izere · Jesse Ichibor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09600"/>
            <a:ext cx="10566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How today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52500"/>
            <a:ext cx="10566400" cy="469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231F20"/>
                </a:solidFill>
                <a:latin typeface="Nunito Sans"/>
              </a:rPr>
              <a:t>Two tests at the same time, one shared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50" y="1682750"/>
            <a:ext cx="3390900" cy="1892300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1400" y="1879600"/>
            <a:ext cx="406400" cy="406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2400300"/>
            <a:ext cx="2946400" cy="292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231F20"/>
                </a:solidFill>
                <a:latin typeface="Nunito Sans"/>
              </a:rPr>
              <a:t>Erin tests on laptop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36850"/>
            <a:ext cx="2946400" cy="81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The prototype is already open on your laptop.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0550" y="1682750"/>
            <a:ext cx="3390900" cy="1892300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22800" y="1879600"/>
            <a:ext cx="406400" cy="406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2800" y="2400300"/>
            <a:ext cx="2946400" cy="292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231F20"/>
                </a:solidFill>
                <a:latin typeface="Nunito Sans"/>
              </a:rPr>
              <a:t>Tim tests on laptop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800" y="2736850"/>
            <a:ext cx="2946400" cy="81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The prototype is already open on your laptop.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1950" y="1682750"/>
            <a:ext cx="3390900" cy="1892300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04200" y="1879600"/>
            <a:ext cx="406400" cy="40640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4200" y="2400300"/>
            <a:ext cx="2946400" cy="292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231F20"/>
                </a:solidFill>
                <a:latin typeface="Nunito Sans"/>
              </a:rPr>
              <a:t>This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4200" y="2736850"/>
            <a:ext cx="2946400" cy="81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Shows each task and question so we all stay on the same step.</a:t>
            </a:r>
          </a:p>
        </p:txBody>
      </p:sp>
      <p:sp>
        <p:nvSpPr>
          <p:cNvPr id="20" name="Round Same Side Corner Rectangle 19"/>
          <p:cNvSpPr/>
          <p:nvPr/>
        </p:nvSpPr>
        <p:spPr>
          <a:xfrm>
            <a:off x="812800" y="3835400"/>
            <a:ext cx="10566400" cy="1536700"/>
          </a:xfrm>
          <a:prstGeom prst="round2SameRect">
            <a:avLst>
              <a:gd name="adj1" fmla="val 0"/>
              <a:gd name="adj2" fmla="val 661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" y="3835400"/>
            <a:ext cx="10566400" cy="508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7900" y="4025900"/>
            <a:ext cx="178308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>
                <a:solidFill>
                  <a:srgbClr val="C62828"/>
                </a:solidFill>
                <a:latin typeface="Nunito Sans"/>
              </a:rPr>
              <a:t>0:00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900" y="4292600"/>
            <a:ext cx="1783080" cy="939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231F20"/>
                </a:solidFill>
                <a:latin typeface="Nunito Sans"/>
              </a:rPr>
              <a:t>Welcome and how it works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13380" y="3886200"/>
            <a:ext cx="12700" cy="1485900"/>
          </a:xfrm>
          <a:prstGeom prst="rect">
            <a:avLst/>
          </a:prstGeom>
          <a:solidFill>
            <a:srgbClr val="F2E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1180" y="4025900"/>
            <a:ext cx="178308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>
                <a:solidFill>
                  <a:srgbClr val="C62828"/>
                </a:solidFill>
                <a:latin typeface="Nunito Sans"/>
              </a:rPr>
              <a:t>1:00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1180" y="4292600"/>
            <a:ext cx="1783080" cy="939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231F20"/>
                </a:solidFill>
                <a:latin typeface="Nunito Sans"/>
              </a:rPr>
              <a:t>A quick look at the site (about one minute, no tasks yet)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6660" y="3886200"/>
            <a:ext cx="12700" cy="1485900"/>
          </a:xfrm>
          <a:prstGeom prst="rect">
            <a:avLst/>
          </a:prstGeom>
          <a:solidFill>
            <a:srgbClr val="F2E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4460" y="4025900"/>
            <a:ext cx="178308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>
                <a:solidFill>
                  <a:srgbClr val="C62828"/>
                </a:solidFill>
                <a:latin typeface="Nunito Sans"/>
              </a:rPr>
              <a:t>2:00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4460" y="4292600"/>
            <a:ext cx="1783080" cy="939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231F20"/>
                </a:solidFill>
                <a:latin typeface="Nunito Sans"/>
              </a:rPr>
              <a:t>Six short tasks, about a minute each (four on the laptop, two on your phone)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9940" y="3886200"/>
            <a:ext cx="12700" cy="1485900"/>
          </a:xfrm>
          <a:prstGeom prst="rect">
            <a:avLst/>
          </a:prstGeom>
          <a:solidFill>
            <a:srgbClr val="F2E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7740" y="4025900"/>
            <a:ext cx="178308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>
                <a:solidFill>
                  <a:srgbClr val="C62828"/>
                </a:solidFill>
                <a:latin typeface="Nunito Sans"/>
              </a:rPr>
              <a:t>9:30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7740" y="4292600"/>
            <a:ext cx="1783080" cy="939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231F20"/>
                </a:solidFill>
                <a:latin typeface="Nunito Sans"/>
              </a:rPr>
              <a:t>Four quick questions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53220" y="3886200"/>
            <a:ext cx="12700" cy="1485900"/>
          </a:xfrm>
          <a:prstGeom prst="rect">
            <a:avLst/>
          </a:prstGeom>
          <a:solidFill>
            <a:srgbClr val="F2E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31020" y="4025900"/>
            <a:ext cx="178308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>
                <a:solidFill>
                  <a:srgbClr val="C62828"/>
                </a:solidFill>
                <a:latin typeface="Nunito Sans"/>
              </a:rPr>
              <a:t>13:30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1020" y="4292600"/>
            <a:ext cx="1783080" cy="939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231F20"/>
                </a:solidFill>
                <a:latin typeface="Nunito Sans"/>
              </a:rPr>
              <a:t>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09600"/>
            <a:ext cx="10566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Before we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52500"/>
            <a:ext cx="10566400" cy="469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231F20"/>
                </a:solidFill>
                <a:latin typeface="Nunito Sans"/>
              </a:rPr>
              <a:t>We’re testing the design, not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50" y="1682750"/>
            <a:ext cx="33909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1400" y="1879600"/>
            <a:ext cx="406400" cy="406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2400300"/>
            <a:ext cx="2946400" cy="81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Think aloud as you go, and say “done” when you finish.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0550" y="1682750"/>
            <a:ext cx="33909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2800" y="1879600"/>
            <a:ext cx="406400" cy="406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800" y="2400300"/>
            <a:ext cx="2946400" cy="81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You can click but not type. Clicking a search box shows sample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1950" y="1682750"/>
            <a:ext cx="33909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04200" y="1879600"/>
            <a:ext cx="406400" cy="406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4200" y="2400300"/>
            <a:ext cx="2946400" cy="81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Links that leave APSS open a grey stand-in page.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50" y="3587750"/>
            <a:ext cx="33909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1400" y="3784600"/>
            <a:ext cx="406400" cy="406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305300"/>
            <a:ext cx="2946400" cy="81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After each task, rate it from 1 (very hard) to 5 (very easy).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0550" y="3587750"/>
            <a:ext cx="33909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22800" y="3784600"/>
            <a:ext cx="406400" cy="406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2800" y="4305300"/>
            <a:ext cx="2946400" cy="81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If something is hard, that’s ours to fix. There are no wrong answers.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81950" y="3587750"/>
            <a:ext cx="3390900" cy="1714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04200" y="3784600"/>
            <a:ext cx="406400" cy="406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4200" y="4305300"/>
            <a:ext cx="2946400" cy="81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We take notes only. Nothing is recorded on video or audio.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09600"/>
            <a:ext cx="40640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Before the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52500"/>
            <a:ext cx="4064000" cy="927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231F20"/>
                </a:solidFill>
                <a:latin typeface="Nunito Sans"/>
              </a:rPr>
              <a:t>A quick look</a:t>
            </a:r>
            <a:br/>
            <a:r>
              <a:rPr sz="3200" b="1">
                <a:solidFill>
                  <a:srgbClr val="231F20"/>
                </a:solidFill>
                <a:latin typeface="Nunito Sans"/>
              </a:rPr>
              <a:t>at the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032000"/>
            <a:ext cx="4064000" cy="711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700"/>
              </a:lnSpc>
            </a:pPr>
            <a:r>
              <a:rPr sz="2000" b="0">
                <a:solidFill>
                  <a:srgbClr val="231F20"/>
                </a:solidFill>
                <a:latin typeface="Nunito Sans"/>
              </a:rPr>
              <a:t>About one minute to look around. No tasks yet.</a:t>
            </a:r>
          </a:p>
        </p:txBody>
      </p:sp>
      <p:sp>
        <p:nvSpPr>
          <p:cNvPr id="9" name="Oval 8"/>
          <p:cNvSpPr/>
          <p:nvPr/>
        </p:nvSpPr>
        <p:spPr>
          <a:xfrm>
            <a:off x="812800" y="3041650"/>
            <a:ext cx="88900" cy="889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946400"/>
            <a:ext cx="3835400" cy="584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240"/>
              </a:lnSpc>
            </a:pPr>
            <a:r>
              <a:rPr sz="1600" b="0">
                <a:solidFill>
                  <a:srgbClr val="231F20"/>
                </a:solidFill>
                <a:latin typeface="Nunito Sans"/>
              </a:rPr>
              <a:t>The research site, where most of today’s tasks happen</a:t>
            </a:r>
          </a:p>
        </p:txBody>
      </p:sp>
      <p:sp>
        <p:nvSpPr>
          <p:cNvPr id="11" name="Oval 10"/>
          <p:cNvSpPr/>
          <p:nvPr/>
        </p:nvSpPr>
        <p:spPr>
          <a:xfrm>
            <a:off x="812800" y="3740150"/>
            <a:ext cx="88900" cy="889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3644900"/>
            <a:ext cx="3835400" cy="317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240"/>
              </a:lnSpc>
            </a:pPr>
            <a:r>
              <a:rPr sz="1600" b="0">
                <a:solidFill>
                  <a:srgbClr val="231F20"/>
                </a:solidFill>
                <a:latin typeface="Nunito Sans"/>
              </a:rPr>
              <a:t>The main APSS site it links to</a:t>
            </a:r>
          </a:p>
        </p:txBody>
      </p:sp>
      <p:sp>
        <p:nvSpPr>
          <p:cNvPr id="13" name="Button: Open the research site">
            <a:hlinkClick r:id="rId2"/>
          </p:cNvPr>
          <p:cNvSpPr/>
          <p:nvPr/>
        </p:nvSpPr>
        <p:spPr>
          <a:xfrm>
            <a:off x="812800" y="4876800"/>
            <a:ext cx="3175000" cy="5334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wrap="square" lIns="137784" tIns="0" rIns="442584" bIns="0">
            <a:noAutofit/>
          </a:bodyPr>
          <a:lstStyle/>
          <a:p>
            <a:pPr algn="ctr">
              <a:lnSpc>
                <a:spcPts val="2182"/>
              </a:lnSpc>
            </a:pPr>
            <a:r>
              <a:rPr sz="1600" b="1">
                <a:solidFill>
                  <a:srgbClr val="FFFFFF"/>
                </a:solidFill>
                <a:latin typeface="Nunito Sans"/>
              </a:rPr>
              <a:t>Open the research site</a:t>
            </a:r>
          </a:p>
        </p:txBody>
      </p:sp>
      <p:sp>
        <p:nvSpPr>
          <p:cNvPr id="14" name="Link arrow">
            <a:hlinkClick r:id="rId2"/>
          </p:cNvPr>
          <p:cNvSpPr/>
          <p:nvPr/>
        </p:nvSpPr>
        <p:spPr>
          <a:xfrm>
            <a:off x="3618971" y="5098521"/>
            <a:ext cx="89958" cy="89958"/>
          </a:xfrm>
          <a:custGeom>
            <a:avLst/>
            <a:gdLst/>
            <a:ahLst/>
            <a:cxnLst/>
            <a:rect l="l" t="t" r="r" b="b"/>
            <a:pathLst>
              <a:path w="89958" h="89958">
                <a:moveTo>
                  <a:pt x="0" y="0"/>
                </a:moveTo>
                <a:lnTo>
                  <a:pt x="89958" y="0"/>
                </a:lnTo>
                <a:lnTo>
                  <a:pt x="89958" y="89958"/>
                </a:lnTo>
                <a:moveTo>
                  <a:pt x="0" y="89958"/>
                </a:moveTo>
                <a:lnTo>
                  <a:pt x="89958" y="0"/>
                </a:lnTo>
              </a:path>
            </a:pathLst>
          </a:custGeom>
          <a:noFill/>
          <a:ln w="23389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utton: Open the main APSS site">
            <a:hlinkClick r:id="rId3"/>
          </p:cNvPr>
          <p:cNvSpPr/>
          <p:nvPr/>
        </p:nvSpPr>
        <p:spPr>
          <a:xfrm>
            <a:off x="822325" y="5546725"/>
            <a:ext cx="3035300" cy="438150"/>
          </a:xfrm>
          <a:prstGeom prst="roundRect">
            <a:avLst>
              <a:gd name="adj" fmla="val 50000"/>
            </a:avLst>
          </a:prstGeom>
          <a:solidFill>
            <a:srgbClr val="FBFAF8"/>
          </a:solidFill>
          <a:ln w="19050">
            <a:solidFill>
              <a:srgbClr val="C62828"/>
            </a:solidFill>
          </a:ln>
        </p:spPr>
        <p:txBody>
          <a:bodyPr rtlCol="0" anchor="ctr" wrap="square" lIns="129893" tIns="0" rIns="409293" bIns="0">
            <a:noAutofit/>
          </a:bodyPr>
          <a:lstStyle/>
          <a:p>
            <a:pPr algn="ctr">
              <a:lnSpc>
                <a:spcPts val="1909"/>
              </a:lnSpc>
            </a:pPr>
            <a:r>
              <a:rPr sz="1400" b="1">
                <a:solidFill>
                  <a:srgbClr val="C62828"/>
                </a:solidFill>
                <a:latin typeface="Nunito Sans"/>
              </a:rPr>
              <a:t>Open the main APSS site</a:t>
            </a:r>
          </a:p>
        </p:txBody>
      </p:sp>
      <p:sp>
        <p:nvSpPr>
          <p:cNvPr id="16" name="Link arrow">
            <a:hlinkClick r:id="rId3"/>
          </p:cNvPr>
          <p:cNvSpPr/>
          <p:nvPr/>
        </p:nvSpPr>
        <p:spPr>
          <a:xfrm>
            <a:off x="3535362" y="5726112"/>
            <a:ext cx="79376" cy="79376"/>
          </a:xfrm>
          <a:custGeom>
            <a:avLst/>
            <a:gdLst/>
            <a:ahLst/>
            <a:cxnLst/>
            <a:rect l="l" t="t" r="r" b="b"/>
            <a:pathLst>
              <a:path w="79376" h="79376">
                <a:moveTo>
                  <a:pt x="0" y="0"/>
                </a:moveTo>
                <a:lnTo>
                  <a:pt x="79376" y="0"/>
                </a:lnTo>
                <a:lnTo>
                  <a:pt x="79376" y="79376"/>
                </a:lnTo>
                <a:moveTo>
                  <a:pt x="0" y="79376"/>
                </a:moveTo>
                <a:lnTo>
                  <a:pt x="79376" y="0"/>
                </a:lnTo>
              </a:path>
            </a:pathLst>
          </a:custGeom>
          <a:noFill/>
          <a:ln w="20638" cap="rnd">
            <a:solidFill>
              <a:srgbClr val="C6282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89550" y="666750"/>
            <a:ext cx="5575300" cy="372110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  <a:effectLst>
            <a:outerShdw blurRad="254000" dist="114300" dir="5400000" algn="t" rotWithShape="0">
              <a:srgbClr val="231F2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7500" y="755650"/>
            <a:ext cx="63500" cy="635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24500" y="755650"/>
            <a:ext cx="63500" cy="635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51500" y="755650"/>
            <a:ext cx="63500" cy="63500"/>
          </a:xfrm>
          <a:prstGeom prst="ellipse">
            <a:avLst/>
          </a:prstGeom>
          <a:solidFill>
            <a:srgbClr val="DDD8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9300" y="692150"/>
            <a:ext cx="4889500" cy="196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1">
                <a:solidFill>
                  <a:srgbClr val="5F5B59"/>
                </a:solidFill>
                <a:latin typeface="Nunito Sans"/>
              </a:rPr>
              <a:t>APSS Research</a:t>
            </a:r>
          </a:p>
        </p:txBody>
      </p:sp>
      <p:pic>
        <p:nvPicPr>
          <p:cNvPr id="22" name="Picture 21" descr="Screenshot of the research site home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914400"/>
            <a:ext cx="5486400" cy="3429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56550" y="3616325"/>
            <a:ext cx="3416300" cy="2371725"/>
          </a:xfrm>
          <a:prstGeom prst="roundRect">
            <a:avLst>
              <a:gd name="adj" fmla="val 4283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  <a:effectLst>
            <a:outerShdw blurRad="254000" dist="114300" dir="5400000" algn="t" rotWithShape="0">
              <a:srgbClr val="231F2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64500" y="3705225"/>
            <a:ext cx="63500" cy="635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91500" y="3705225"/>
            <a:ext cx="63500" cy="6350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18500" y="3705225"/>
            <a:ext cx="63500" cy="63500"/>
          </a:xfrm>
          <a:prstGeom prst="ellipse">
            <a:avLst/>
          </a:prstGeom>
          <a:solidFill>
            <a:srgbClr val="DDD8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96300" y="3641725"/>
            <a:ext cx="2730500" cy="196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1">
                <a:solidFill>
                  <a:srgbClr val="5F5B59"/>
                </a:solidFill>
                <a:latin typeface="Nunito Sans"/>
              </a:rPr>
              <a:t>APSS main site</a:t>
            </a:r>
          </a:p>
        </p:txBody>
      </p:sp>
      <p:pic>
        <p:nvPicPr>
          <p:cNvPr id="28" name="Picture 27" descr="Screenshot of the main APSS site home p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863975"/>
            <a:ext cx="3327400" cy="2079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54050"/>
            <a:ext cx="1295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Task 1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9000" y="609600"/>
            <a:ext cx="1333500" cy="311150"/>
          </a:xfrm>
          <a:prstGeom prst="roundRect">
            <a:avLst>
              <a:gd name="adj" fmla="val 50000"/>
            </a:avLst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36"/>
              </a:lnSpc>
            </a:pPr>
            <a:r>
              <a:rPr sz="1200" b="1" spc="24">
                <a:solidFill>
                  <a:srgbClr val="F6F2EE"/>
                </a:solidFill>
                <a:latin typeface="Nunito Sans"/>
              </a:rPr>
              <a:t>On the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225550"/>
            <a:ext cx="10160000" cy="1562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4026"/>
              </a:lnSpc>
            </a:pPr>
            <a:r>
              <a:rPr sz="3300" b="1">
                <a:solidFill>
                  <a:srgbClr val="231F20"/>
                </a:solidFill>
                <a:latin typeface="Nunito Sans"/>
              </a:rPr>
              <a:t>“A funder asks which APSS research project is still running. Find it and tell us when it ends.”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50" y="4413250"/>
            <a:ext cx="10553700" cy="914400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4100" y="4597400"/>
            <a:ext cx="3810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1" spc="96" cap="all">
                <a:solidFill>
                  <a:srgbClr val="5F5B59"/>
                </a:solidFill>
                <a:latin typeface="Nunito Sans"/>
              </a:rPr>
              <a:t>Starts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100" y="4832350"/>
            <a:ext cx="69850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455"/>
              </a:lnSpc>
            </a:pPr>
            <a:r>
              <a:rPr sz="1800" b="1">
                <a:solidFill>
                  <a:srgbClr val="231F20"/>
                </a:solidFill>
                <a:latin typeface="Nunito Sans"/>
              </a:rPr>
              <a:t>Research home</a:t>
            </a:r>
          </a:p>
        </p:txBody>
      </p:sp>
      <p:sp>
        <p:nvSpPr>
          <p:cNvPr id="12" name="Button: Open start screen">
            <a:hlinkClick r:id="rId2"/>
          </p:cNvPr>
          <p:cNvSpPr/>
          <p:nvPr/>
        </p:nvSpPr>
        <p:spPr>
          <a:xfrm>
            <a:off x="8470900" y="4603750"/>
            <a:ext cx="2667000" cy="5334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wrap="square" lIns="137784" tIns="0" rIns="442584" bIns="0">
            <a:noAutofit/>
          </a:bodyPr>
          <a:lstStyle/>
          <a:p>
            <a:pPr algn="ctr">
              <a:lnSpc>
                <a:spcPts val="2182"/>
              </a:lnSpc>
            </a:pPr>
            <a:r>
              <a:rPr sz="1600" b="1">
                <a:solidFill>
                  <a:srgbClr val="FFFFFF"/>
                </a:solidFill>
                <a:latin typeface="Nunito Sans"/>
              </a:rPr>
              <a:t>Open start screen</a:t>
            </a:r>
          </a:p>
        </p:txBody>
      </p:sp>
      <p:sp>
        <p:nvSpPr>
          <p:cNvPr id="13" name="Link arrow">
            <a:hlinkClick r:id="rId2"/>
          </p:cNvPr>
          <p:cNvSpPr/>
          <p:nvPr/>
        </p:nvSpPr>
        <p:spPr>
          <a:xfrm>
            <a:off x="10769071" y="4825471"/>
            <a:ext cx="89958" cy="89958"/>
          </a:xfrm>
          <a:custGeom>
            <a:avLst/>
            <a:gdLst/>
            <a:ahLst/>
            <a:cxnLst/>
            <a:rect l="l" t="t" r="r" b="b"/>
            <a:pathLst>
              <a:path w="89958" h="89958">
                <a:moveTo>
                  <a:pt x="0" y="0"/>
                </a:moveTo>
                <a:lnTo>
                  <a:pt x="89958" y="0"/>
                </a:lnTo>
                <a:lnTo>
                  <a:pt x="89958" y="89958"/>
                </a:lnTo>
                <a:moveTo>
                  <a:pt x="0" y="89958"/>
                </a:moveTo>
                <a:lnTo>
                  <a:pt x="89958" y="0"/>
                </a:lnTo>
              </a:path>
            </a:pathLst>
          </a:custGeom>
          <a:noFill/>
          <a:ln w="23389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800" y="5486400"/>
            <a:ext cx="10566400" cy="508000"/>
          </a:xfrm>
          <a:prstGeom prst="roundRect">
            <a:avLst>
              <a:gd name="adj" fmla="val 10000"/>
            </a:avLst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3600" y="5486400"/>
            <a:ext cx="10515600" cy="508000"/>
          </a:xfrm>
          <a:prstGeom prst="roundRect">
            <a:avLst>
              <a:gd name="adj" fmla="val 10000"/>
            </a:avLst>
          </a:prstGeom>
          <a:solidFill>
            <a:srgbClr val="FFF4D1"/>
          </a:solidFill>
          <a:ln>
            <a:noFill/>
          </a:ln>
        </p:spPr>
        <p:txBody>
          <a:bodyPr rtlCol="0" anchor="t" wrap="square" lIns="165100" tIns="101600" rIns="165100" bIns="101600">
            <a:noAutofit/>
          </a:bodyPr>
          <a:lstStyle/>
          <a:p>
            <a:pPr algn="l">
              <a:lnSpc>
                <a:spcPts val="2046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Say “done” when you finish, then rate the task from 1 (very hard) to 5 (very easy).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54050"/>
            <a:ext cx="1295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Task 2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9000" y="609600"/>
            <a:ext cx="1333500" cy="311150"/>
          </a:xfrm>
          <a:prstGeom prst="roundRect">
            <a:avLst>
              <a:gd name="adj" fmla="val 50000"/>
            </a:avLst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36"/>
              </a:lnSpc>
            </a:pPr>
            <a:r>
              <a:rPr sz="1200" b="1" spc="24">
                <a:solidFill>
                  <a:srgbClr val="F6F2EE"/>
                </a:solidFill>
                <a:latin typeface="Nunito Sans"/>
              </a:rPr>
              <a:t>On the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225550"/>
            <a:ext cx="10160000" cy="1562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4026"/>
              </a:lnSpc>
            </a:pPr>
            <a:r>
              <a:rPr sz="3300" b="1">
                <a:solidFill>
                  <a:srgbClr val="231F20"/>
                </a:solidFill>
                <a:latin typeface="Nunito Sans"/>
              </a:rPr>
              <a:t>“You just saw a discarded needle in a park. Report it from here.”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50" y="4413250"/>
            <a:ext cx="10553700" cy="914400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4100" y="4597400"/>
            <a:ext cx="3810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1" spc="96" cap="all">
                <a:solidFill>
                  <a:srgbClr val="5F5B59"/>
                </a:solidFill>
                <a:latin typeface="Nunito Sans"/>
              </a:rPr>
              <a:t>Starts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100" y="4832350"/>
            <a:ext cx="69850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455"/>
              </a:lnSpc>
            </a:pPr>
            <a:r>
              <a:rPr sz="1800" b="1">
                <a:solidFill>
                  <a:srgbClr val="231F20"/>
                </a:solidFill>
                <a:latin typeface="Nunito Sans"/>
              </a:rPr>
              <a:t>Mapping Needles, Reducing Harm (project page)</a:t>
            </a:r>
          </a:p>
        </p:txBody>
      </p:sp>
      <p:sp>
        <p:nvSpPr>
          <p:cNvPr id="12" name="Button: Open start screen">
            <a:hlinkClick r:id="rId2"/>
          </p:cNvPr>
          <p:cNvSpPr/>
          <p:nvPr/>
        </p:nvSpPr>
        <p:spPr>
          <a:xfrm>
            <a:off x="8470900" y="4603750"/>
            <a:ext cx="2667000" cy="5334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wrap="square" lIns="137784" tIns="0" rIns="442584" bIns="0">
            <a:noAutofit/>
          </a:bodyPr>
          <a:lstStyle/>
          <a:p>
            <a:pPr algn="ctr">
              <a:lnSpc>
                <a:spcPts val="2182"/>
              </a:lnSpc>
            </a:pPr>
            <a:r>
              <a:rPr sz="1600" b="1">
                <a:solidFill>
                  <a:srgbClr val="FFFFFF"/>
                </a:solidFill>
                <a:latin typeface="Nunito Sans"/>
              </a:rPr>
              <a:t>Open start screen</a:t>
            </a:r>
          </a:p>
        </p:txBody>
      </p:sp>
      <p:sp>
        <p:nvSpPr>
          <p:cNvPr id="13" name="Link arrow">
            <a:hlinkClick r:id="rId2"/>
          </p:cNvPr>
          <p:cNvSpPr/>
          <p:nvPr/>
        </p:nvSpPr>
        <p:spPr>
          <a:xfrm>
            <a:off x="10769071" y="4825471"/>
            <a:ext cx="89958" cy="89958"/>
          </a:xfrm>
          <a:custGeom>
            <a:avLst/>
            <a:gdLst/>
            <a:ahLst/>
            <a:cxnLst/>
            <a:rect l="l" t="t" r="r" b="b"/>
            <a:pathLst>
              <a:path w="89958" h="89958">
                <a:moveTo>
                  <a:pt x="0" y="0"/>
                </a:moveTo>
                <a:lnTo>
                  <a:pt x="89958" y="0"/>
                </a:lnTo>
                <a:lnTo>
                  <a:pt x="89958" y="89958"/>
                </a:lnTo>
                <a:moveTo>
                  <a:pt x="0" y="89958"/>
                </a:moveTo>
                <a:lnTo>
                  <a:pt x="89958" y="0"/>
                </a:lnTo>
              </a:path>
            </a:pathLst>
          </a:custGeom>
          <a:noFill/>
          <a:ln w="23389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800" y="5486400"/>
            <a:ext cx="10566400" cy="508000"/>
          </a:xfrm>
          <a:prstGeom prst="roundRect">
            <a:avLst>
              <a:gd name="adj" fmla="val 10000"/>
            </a:avLst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3600" y="5486400"/>
            <a:ext cx="10515600" cy="508000"/>
          </a:xfrm>
          <a:prstGeom prst="roundRect">
            <a:avLst>
              <a:gd name="adj" fmla="val 10000"/>
            </a:avLst>
          </a:prstGeom>
          <a:solidFill>
            <a:srgbClr val="FFF4D1"/>
          </a:solidFill>
          <a:ln>
            <a:noFill/>
          </a:ln>
        </p:spPr>
        <p:txBody>
          <a:bodyPr rtlCol="0" anchor="t" wrap="square" lIns="165100" tIns="101600" rIns="165100" bIns="101600">
            <a:noAutofit/>
          </a:bodyPr>
          <a:lstStyle/>
          <a:p>
            <a:pPr algn="l">
              <a:lnSpc>
                <a:spcPts val="2046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Say “done” when you finish, then rate the task from 1 (very hard) to 5 (very easy).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7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54050"/>
            <a:ext cx="1295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Task 3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9000" y="609600"/>
            <a:ext cx="1333500" cy="311150"/>
          </a:xfrm>
          <a:prstGeom prst="roundRect">
            <a:avLst>
              <a:gd name="adj" fmla="val 50000"/>
            </a:avLst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36"/>
              </a:lnSpc>
            </a:pPr>
            <a:r>
              <a:rPr sz="1200" b="1" spc="24">
                <a:solidFill>
                  <a:srgbClr val="F6F2EE"/>
                </a:solidFill>
                <a:latin typeface="Nunito Sans"/>
              </a:rPr>
              <a:t>On the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225550"/>
            <a:ext cx="10160000" cy="1562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4026"/>
              </a:lnSpc>
            </a:pPr>
            <a:r>
              <a:rPr sz="3300" b="1">
                <a:solidFill>
                  <a:srgbClr val="231F20"/>
                </a:solidFill>
                <a:latin typeface="Nunito Sans"/>
              </a:rPr>
              <a:t>“You’d like to go to the next free pop-up testing event. Find out when and where it is.”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50" y="4413250"/>
            <a:ext cx="10553700" cy="914400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4100" y="4597400"/>
            <a:ext cx="3810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1" spc="96" cap="all">
                <a:solidFill>
                  <a:srgbClr val="5F5B59"/>
                </a:solidFill>
                <a:latin typeface="Nunito Sans"/>
              </a:rPr>
              <a:t>Starts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100" y="4832350"/>
            <a:ext cx="69850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455"/>
              </a:lnSpc>
            </a:pPr>
            <a:r>
              <a:rPr sz="1800" b="1">
                <a:solidFill>
                  <a:srgbClr val="231F20"/>
                </a:solidFill>
                <a:latin typeface="Nunito Sans"/>
              </a:rPr>
              <a:t>Research home</a:t>
            </a:r>
          </a:p>
        </p:txBody>
      </p:sp>
      <p:sp>
        <p:nvSpPr>
          <p:cNvPr id="12" name="Button: Open start screen">
            <a:hlinkClick r:id="rId2"/>
          </p:cNvPr>
          <p:cNvSpPr/>
          <p:nvPr/>
        </p:nvSpPr>
        <p:spPr>
          <a:xfrm>
            <a:off x="8470900" y="4603750"/>
            <a:ext cx="2667000" cy="5334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wrap="square" lIns="137784" tIns="0" rIns="442584" bIns="0">
            <a:noAutofit/>
          </a:bodyPr>
          <a:lstStyle/>
          <a:p>
            <a:pPr algn="ctr">
              <a:lnSpc>
                <a:spcPts val="2182"/>
              </a:lnSpc>
            </a:pPr>
            <a:r>
              <a:rPr sz="1600" b="1">
                <a:solidFill>
                  <a:srgbClr val="FFFFFF"/>
                </a:solidFill>
                <a:latin typeface="Nunito Sans"/>
              </a:rPr>
              <a:t>Open start screen</a:t>
            </a:r>
          </a:p>
        </p:txBody>
      </p:sp>
      <p:sp>
        <p:nvSpPr>
          <p:cNvPr id="13" name="Link arrow">
            <a:hlinkClick r:id="rId2"/>
          </p:cNvPr>
          <p:cNvSpPr/>
          <p:nvPr/>
        </p:nvSpPr>
        <p:spPr>
          <a:xfrm>
            <a:off x="10769071" y="4825471"/>
            <a:ext cx="89958" cy="89958"/>
          </a:xfrm>
          <a:custGeom>
            <a:avLst/>
            <a:gdLst/>
            <a:ahLst/>
            <a:cxnLst/>
            <a:rect l="l" t="t" r="r" b="b"/>
            <a:pathLst>
              <a:path w="89958" h="89958">
                <a:moveTo>
                  <a:pt x="0" y="0"/>
                </a:moveTo>
                <a:lnTo>
                  <a:pt x="89958" y="0"/>
                </a:lnTo>
                <a:lnTo>
                  <a:pt x="89958" y="89958"/>
                </a:lnTo>
                <a:moveTo>
                  <a:pt x="0" y="89958"/>
                </a:moveTo>
                <a:lnTo>
                  <a:pt x="89958" y="0"/>
                </a:lnTo>
              </a:path>
            </a:pathLst>
          </a:custGeom>
          <a:noFill/>
          <a:ln w="23389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800" y="5486400"/>
            <a:ext cx="10566400" cy="508000"/>
          </a:xfrm>
          <a:prstGeom prst="roundRect">
            <a:avLst>
              <a:gd name="adj" fmla="val 10000"/>
            </a:avLst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3600" y="5486400"/>
            <a:ext cx="10515600" cy="508000"/>
          </a:xfrm>
          <a:prstGeom prst="roundRect">
            <a:avLst>
              <a:gd name="adj" fmla="val 10000"/>
            </a:avLst>
          </a:prstGeom>
          <a:solidFill>
            <a:srgbClr val="FFF4D1"/>
          </a:solidFill>
          <a:ln>
            <a:noFill/>
          </a:ln>
        </p:spPr>
        <p:txBody>
          <a:bodyPr rtlCol="0" anchor="t" wrap="square" lIns="165100" tIns="101600" rIns="165100" bIns="101600">
            <a:noAutofit/>
          </a:bodyPr>
          <a:lstStyle/>
          <a:p>
            <a:pPr algn="l">
              <a:lnSpc>
                <a:spcPts val="2046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Say “done” when you finish, then rate the task from 1 (very hard) to 5 (very easy).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8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54050"/>
            <a:ext cx="1295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Task 4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9000" y="609600"/>
            <a:ext cx="1333500" cy="311150"/>
          </a:xfrm>
          <a:prstGeom prst="roundRect">
            <a:avLst>
              <a:gd name="adj" fmla="val 50000"/>
            </a:avLst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36"/>
              </a:lnSpc>
            </a:pPr>
            <a:r>
              <a:rPr sz="1200" b="1" spc="24">
                <a:solidFill>
                  <a:srgbClr val="F6F2EE"/>
                </a:solidFill>
                <a:latin typeface="Nunito Sans"/>
              </a:rPr>
              <a:t>On the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225550"/>
            <a:ext cx="10160000" cy="1562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4026"/>
              </a:lnSpc>
            </a:pPr>
            <a:r>
              <a:rPr sz="3300" b="1">
                <a:solidFill>
                  <a:srgbClr val="231F20"/>
                </a:solidFill>
                <a:latin typeface="Nunito Sans"/>
              </a:rPr>
              <a:t>“APSS published a paper in the Harm Reduction Journal in 2026. Find it and open it on the journal’s website.”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50" y="4413250"/>
            <a:ext cx="10553700" cy="914400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4100" y="4597400"/>
            <a:ext cx="38100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1" spc="96" cap="all">
                <a:solidFill>
                  <a:srgbClr val="5F5B59"/>
                </a:solidFill>
                <a:latin typeface="Nunito Sans"/>
              </a:rPr>
              <a:t>Starts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100" y="4832350"/>
            <a:ext cx="69850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455"/>
              </a:lnSpc>
            </a:pPr>
            <a:r>
              <a:rPr sz="1800" b="1">
                <a:solidFill>
                  <a:srgbClr val="231F20"/>
                </a:solidFill>
                <a:latin typeface="Nunito Sans"/>
              </a:rPr>
              <a:t>Research home</a:t>
            </a:r>
          </a:p>
        </p:txBody>
      </p:sp>
      <p:sp>
        <p:nvSpPr>
          <p:cNvPr id="12" name="Button: Open start screen">
            <a:hlinkClick r:id="rId2"/>
          </p:cNvPr>
          <p:cNvSpPr/>
          <p:nvPr/>
        </p:nvSpPr>
        <p:spPr>
          <a:xfrm>
            <a:off x="8470900" y="4603750"/>
            <a:ext cx="2667000" cy="5334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wrap="square" lIns="137784" tIns="0" rIns="442584" bIns="0">
            <a:noAutofit/>
          </a:bodyPr>
          <a:lstStyle/>
          <a:p>
            <a:pPr algn="ctr">
              <a:lnSpc>
                <a:spcPts val="2182"/>
              </a:lnSpc>
            </a:pPr>
            <a:r>
              <a:rPr sz="1600" b="1">
                <a:solidFill>
                  <a:srgbClr val="FFFFFF"/>
                </a:solidFill>
                <a:latin typeface="Nunito Sans"/>
              </a:rPr>
              <a:t>Open start screen</a:t>
            </a:r>
          </a:p>
        </p:txBody>
      </p:sp>
      <p:sp>
        <p:nvSpPr>
          <p:cNvPr id="13" name="Link arrow">
            <a:hlinkClick r:id="rId2"/>
          </p:cNvPr>
          <p:cNvSpPr/>
          <p:nvPr/>
        </p:nvSpPr>
        <p:spPr>
          <a:xfrm>
            <a:off x="10769071" y="4825471"/>
            <a:ext cx="89958" cy="89958"/>
          </a:xfrm>
          <a:custGeom>
            <a:avLst/>
            <a:gdLst/>
            <a:ahLst/>
            <a:cxnLst/>
            <a:rect l="l" t="t" r="r" b="b"/>
            <a:pathLst>
              <a:path w="89958" h="89958">
                <a:moveTo>
                  <a:pt x="0" y="0"/>
                </a:moveTo>
                <a:lnTo>
                  <a:pt x="89958" y="0"/>
                </a:lnTo>
                <a:lnTo>
                  <a:pt x="89958" y="89958"/>
                </a:lnTo>
                <a:moveTo>
                  <a:pt x="0" y="89958"/>
                </a:moveTo>
                <a:lnTo>
                  <a:pt x="89958" y="0"/>
                </a:lnTo>
              </a:path>
            </a:pathLst>
          </a:custGeom>
          <a:noFill/>
          <a:ln w="23389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800" y="5486400"/>
            <a:ext cx="10566400" cy="508000"/>
          </a:xfrm>
          <a:prstGeom prst="roundRect">
            <a:avLst>
              <a:gd name="adj" fmla="val 10000"/>
            </a:avLst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3600" y="5486400"/>
            <a:ext cx="10515600" cy="508000"/>
          </a:xfrm>
          <a:prstGeom prst="roundRect">
            <a:avLst>
              <a:gd name="adj" fmla="val 10000"/>
            </a:avLst>
          </a:prstGeom>
          <a:solidFill>
            <a:srgbClr val="FFF4D1"/>
          </a:solidFill>
          <a:ln>
            <a:noFill/>
          </a:ln>
        </p:spPr>
        <p:txBody>
          <a:bodyPr rtlCol="0" anchor="t" wrap="square" lIns="165100" tIns="101600" rIns="165100" bIns="101600">
            <a:noAutofit/>
          </a:bodyPr>
          <a:lstStyle/>
          <a:p>
            <a:pPr algn="l">
              <a:lnSpc>
                <a:spcPts val="2046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Say “done” when you finish, then rate the task from 1 (very hard) to 5 (very easy).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54050"/>
            <a:ext cx="1295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Task 5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9000" y="609600"/>
            <a:ext cx="1397000" cy="31115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36"/>
              </a:lnSpc>
            </a:pPr>
            <a:r>
              <a:rPr sz="1200" b="1" spc="24">
                <a:solidFill>
                  <a:srgbClr val="FFFFFF"/>
                </a:solidFill>
                <a:latin typeface="Nunito Sans"/>
              </a:rPr>
              <a:t>On your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225550"/>
            <a:ext cx="5943600" cy="800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050"/>
              </a:lnSpc>
            </a:pPr>
            <a:r>
              <a:rPr sz="2500" b="1">
                <a:solidFill>
                  <a:srgbClr val="231F20"/>
                </a:solidFill>
                <a:latin typeface="Nunito Sans"/>
              </a:rPr>
              <a:t>“On your phone, find the number to call APSS for help.”</a:t>
            </a:r>
          </a:p>
        </p:txBody>
      </p:sp>
      <p:sp>
        <p:nvSpPr>
          <p:cNvPr id="9" name="Oval 8"/>
          <p:cNvSpPr/>
          <p:nvPr/>
        </p:nvSpPr>
        <p:spPr>
          <a:xfrm>
            <a:off x="812800" y="2203450"/>
            <a:ext cx="304800" cy="30480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540"/>
              </a:lnSpc>
            </a:pPr>
            <a:r>
              <a:rPr sz="1400" b="1">
                <a:solidFill>
                  <a:srgbClr val="FFFFFF"/>
                </a:solidFill>
                <a:latin typeface="Nunit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1900" y="2216150"/>
            <a:ext cx="55245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82"/>
              </a:lnSpc>
            </a:pPr>
            <a:r>
              <a:rPr sz="1600" b="0">
                <a:solidFill>
                  <a:srgbClr val="231F20"/>
                </a:solidFill>
                <a:latin typeface="Nunito Sans"/>
              </a:rPr>
              <a:t>Open your phone’s camera</a:t>
            </a:r>
          </a:p>
        </p:txBody>
      </p:sp>
      <p:sp>
        <p:nvSpPr>
          <p:cNvPr id="11" name="Oval 10"/>
          <p:cNvSpPr/>
          <p:nvPr/>
        </p:nvSpPr>
        <p:spPr>
          <a:xfrm>
            <a:off x="812800" y="2584450"/>
            <a:ext cx="304800" cy="30480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540"/>
              </a:lnSpc>
            </a:pPr>
            <a:r>
              <a:rPr sz="1400" b="1">
                <a:solidFill>
                  <a:srgbClr val="FFFFFF"/>
                </a:solidFill>
                <a:latin typeface="Nunit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1900" y="2597150"/>
            <a:ext cx="55245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82"/>
              </a:lnSpc>
            </a:pPr>
            <a:r>
              <a:rPr sz="1600" b="0">
                <a:solidFill>
                  <a:srgbClr val="231F20"/>
                </a:solidFill>
                <a:latin typeface="Nunito Sans"/>
              </a:rPr>
              <a:t>Point it at the code</a:t>
            </a:r>
          </a:p>
        </p:txBody>
      </p:sp>
      <p:sp>
        <p:nvSpPr>
          <p:cNvPr id="13" name="Oval 12"/>
          <p:cNvSpPr/>
          <p:nvPr/>
        </p:nvSpPr>
        <p:spPr>
          <a:xfrm>
            <a:off x="812800" y="2965450"/>
            <a:ext cx="304800" cy="30480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540"/>
              </a:lnSpc>
            </a:pPr>
            <a:r>
              <a:rPr sz="1400" b="1">
                <a:solidFill>
                  <a:srgbClr val="FFFFFF"/>
                </a:solidFill>
                <a:latin typeface="Nunito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1900" y="2978150"/>
            <a:ext cx="55245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82"/>
              </a:lnSpc>
            </a:pPr>
            <a:r>
              <a:rPr sz="1600" b="0">
                <a:solidFill>
                  <a:srgbClr val="231F20"/>
                </a:solidFill>
                <a:latin typeface="Nunito Sans"/>
              </a:rPr>
              <a:t>Tap the link that pops up</a:t>
            </a:r>
          </a:p>
        </p:txBody>
      </p:sp>
      <p:sp>
        <p:nvSpPr>
          <p:cNvPr id="15" name="Oval 14"/>
          <p:cNvSpPr/>
          <p:nvPr/>
        </p:nvSpPr>
        <p:spPr>
          <a:xfrm>
            <a:off x="812800" y="3346450"/>
            <a:ext cx="304800" cy="30480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540"/>
              </a:lnSpc>
            </a:pPr>
            <a:r>
              <a:rPr sz="1400" b="1">
                <a:solidFill>
                  <a:srgbClr val="FFFFFF"/>
                </a:solidFill>
                <a:latin typeface="Nunito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1900" y="3359150"/>
            <a:ext cx="55245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82"/>
              </a:lnSpc>
            </a:pPr>
            <a:r>
              <a:rPr sz="1600" b="0">
                <a:solidFill>
                  <a:srgbClr val="231F20"/>
                </a:solidFill>
                <a:latin typeface="Nunito Sans"/>
              </a:rPr>
              <a:t>If a cookie notice covers the page, tap X</a:t>
            </a:r>
          </a:p>
        </p:txBody>
      </p:sp>
      <p:sp>
        <p:nvSpPr>
          <p:cNvPr id="17" name="Button: No phone? Open it on the laptop">
            <a:hlinkClick r:id="rId2"/>
          </p:cNvPr>
          <p:cNvSpPr/>
          <p:nvPr/>
        </p:nvSpPr>
        <p:spPr>
          <a:xfrm>
            <a:off x="822325" y="4619625"/>
            <a:ext cx="3740150" cy="438150"/>
          </a:xfrm>
          <a:prstGeom prst="roundRect">
            <a:avLst>
              <a:gd name="adj" fmla="val 50000"/>
            </a:avLst>
          </a:prstGeom>
          <a:solidFill>
            <a:srgbClr val="FBFAF8"/>
          </a:solidFill>
          <a:ln w="19050">
            <a:solidFill>
              <a:srgbClr val="C62828"/>
            </a:solidFill>
          </a:ln>
        </p:spPr>
        <p:txBody>
          <a:bodyPr rtlCol="0" anchor="ctr" wrap="square" lIns="129893" tIns="0" rIns="409293" bIns="0">
            <a:noAutofit/>
          </a:bodyPr>
          <a:lstStyle/>
          <a:p>
            <a:pPr algn="ctr">
              <a:lnSpc>
                <a:spcPts val="1909"/>
              </a:lnSpc>
            </a:pPr>
            <a:r>
              <a:rPr sz="1400" b="1">
                <a:solidFill>
                  <a:srgbClr val="C62828"/>
                </a:solidFill>
                <a:latin typeface="Nunito Sans"/>
              </a:rPr>
              <a:t>No phone? Open it on the laptop</a:t>
            </a:r>
          </a:p>
        </p:txBody>
      </p:sp>
      <p:sp>
        <p:nvSpPr>
          <p:cNvPr id="18" name="Link arrow">
            <a:hlinkClick r:id="rId2"/>
          </p:cNvPr>
          <p:cNvSpPr/>
          <p:nvPr/>
        </p:nvSpPr>
        <p:spPr>
          <a:xfrm>
            <a:off x="4240212" y="4799012"/>
            <a:ext cx="79376" cy="79376"/>
          </a:xfrm>
          <a:custGeom>
            <a:avLst/>
            <a:gdLst/>
            <a:ahLst/>
            <a:cxnLst/>
            <a:rect l="l" t="t" r="r" b="b"/>
            <a:pathLst>
              <a:path w="79376" h="79376">
                <a:moveTo>
                  <a:pt x="0" y="0"/>
                </a:moveTo>
                <a:lnTo>
                  <a:pt x="79376" y="0"/>
                </a:lnTo>
                <a:lnTo>
                  <a:pt x="79376" y="79376"/>
                </a:lnTo>
                <a:moveTo>
                  <a:pt x="0" y="79376"/>
                </a:moveTo>
                <a:lnTo>
                  <a:pt x="79376" y="0"/>
                </a:lnTo>
              </a:path>
            </a:pathLst>
          </a:custGeom>
          <a:noFill/>
          <a:ln w="20638" cap="rnd">
            <a:solidFill>
              <a:srgbClr val="C6282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800" y="5219700"/>
            <a:ext cx="5943600" cy="774700"/>
          </a:xfrm>
          <a:prstGeom prst="roundRect">
            <a:avLst>
              <a:gd name="adj" fmla="val 6557"/>
            </a:avLst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3600" y="5219700"/>
            <a:ext cx="5892800" cy="774700"/>
          </a:xfrm>
          <a:prstGeom prst="roundRect">
            <a:avLst>
              <a:gd name="adj" fmla="val 6557"/>
            </a:avLst>
          </a:prstGeom>
          <a:solidFill>
            <a:srgbClr val="FFF4D1"/>
          </a:solidFill>
          <a:ln>
            <a:noFill/>
          </a:ln>
        </p:spPr>
        <p:txBody>
          <a:bodyPr rtlCol="0" anchor="t" wrap="square" lIns="165100" tIns="101600" rIns="165100" bIns="101600">
            <a:noAutofit/>
          </a:bodyPr>
          <a:lstStyle/>
          <a:p>
            <a:pPr algn="l">
              <a:lnSpc>
                <a:spcPts val="2046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Say “done” when you finish, then rate the task</a:t>
            </a:r>
            <a:br/>
            <a:r>
              <a:rPr sz="1500" b="0">
                <a:solidFill>
                  <a:srgbClr val="231F20"/>
                </a:solidFill>
                <a:latin typeface="Nunito Sans"/>
              </a:rPr>
              <a:t>from 1 (very hard) to 5 (very easy).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1550" y="962025"/>
            <a:ext cx="4051300" cy="4679950"/>
          </a:xfrm>
          <a:prstGeom prst="roundRect">
            <a:avLst>
              <a:gd name="adj" fmla="val 4388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  <a:effectLst>
            <a:outerShdw blurRad="254000" dist="114300" dir="5400000" algn="t" rotWithShape="0">
              <a:srgbClr val="231F2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QR code that opens a project page of the prototype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1133475"/>
            <a:ext cx="3708400" cy="3708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93000" y="4930775"/>
            <a:ext cx="3708400" cy="317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2318"/>
              </a:lnSpc>
            </a:pPr>
            <a:r>
              <a:rPr sz="1700" b="1">
                <a:solidFill>
                  <a:srgbClr val="231F20"/>
                </a:solidFill>
                <a:latin typeface="Nunito Sans"/>
              </a:rPr>
              <a:t>Scan with your phone camera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3000" y="5250815"/>
            <a:ext cx="37084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Opens a project page on your phone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54050"/>
            <a:ext cx="1295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Task 6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9000" y="609600"/>
            <a:ext cx="1397000" cy="31115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36"/>
              </a:lnSpc>
            </a:pPr>
            <a:r>
              <a:rPr sz="1200" b="1" spc="24">
                <a:solidFill>
                  <a:srgbClr val="FFFFFF"/>
                </a:solidFill>
                <a:latin typeface="Nunito Sans"/>
              </a:rPr>
              <a:t>On your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225550"/>
            <a:ext cx="5943600" cy="11874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050"/>
              </a:lnSpc>
            </a:pPr>
            <a:r>
              <a:rPr sz="2500" b="1">
                <a:solidFill>
                  <a:srgbClr val="231F20"/>
                </a:solidFill>
                <a:latin typeface="Nunito Sans"/>
              </a:rPr>
              <a:t>“On your phone, find out which days APSS is open, and what time it opens and closes.”</a:t>
            </a:r>
          </a:p>
        </p:txBody>
      </p:sp>
      <p:sp>
        <p:nvSpPr>
          <p:cNvPr id="9" name="Oval 8"/>
          <p:cNvSpPr/>
          <p:nvPr/>
        </p:nvSpPr>
        <p:spPr>
          <a:xfrm>
            <a:off x="812800" y="2590800"/>
            <a:ext cx="304800" cy="30480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540"/>
              </a:lnSpc>
            </a:pPr>
            <a:r>
              <a:rPr sz="1400" b="1">
                <a:solidFill>
                  <a:srgbClr val="FFFFFF"/>
                </a:solidFill>
                <a:latin typeface="Nunit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1900" y="2603500"/>
            <a:ext cx="55245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82"/>
              </a:lnSpc>
            </a:pPr>
            <a:r>
              <a:rPr sz="1600" b="0">
                <a:solidFill>
                  <a:srgbClr val="231F20"/>
                </a:solidFill>
                <a:latin typeface="Nunito Sans"/>
              </a:rPr>
              <a:t>Open your phone’s camera</a:t>
            </a:r>
          </a:p>
        </p:txBody>
      </p:sp>
      <p:sp>
        <p:nvSpPr>
          <p:cNvPr id="11" name="Oval 10"/>
          <p:cNvSpPr/>
          <p:nvPr/>
        </p:nvSpPr>
        <p:spPr>
          <a:xfrm>
            <a:off x="812800" y="2971800"/>
            <a:ext cx="304800" cy="30480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540"/>
              </a:lnSpc>
            </a:pPr>
            <a:r>
              <a:rPr sz="1400" b="1">
                <a:solidFill>
                  <a:srgbClr val="FFFFFF"/>
                </a:solidFill>
                <a:latin typeface="Nunit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1900" y="2984500"/>
            <a:ext cx="55245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82"/>
              </a:lnSpc>
            </a:pPr>
            <a:r>
              <a:rPr sz="1600" b="0">
                <a:solidFill>
                  <a:srgbClr val="231F20"/>
                </a:solidFill>
                <a:latin typeface="Nunito Sans"/>
              </a:rPr>
              <a:t>Point it at the code</a:t>
            </a:r>
          </a:p>
        </p:txBody>
      </p:sp>
      <p:sp>
        <p:nvSpPr>
          <p:cNvPr id="13" name="Oval 12"/>
          <p:cNvSpPr/>
          <p:nvPr/>
        </p:nvSpPr>
        <p:spPr>
          <a:xfrm>
            <a:off x="812800" y="3352800"/>
            <a:ext cx="304800" cy="30480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540"/>
              </a:lnSpc>
            </a:pPr>
            <a:r>
              <a:rPr sz="1400" b="1">
                <a:solidFill>
                  <a:srgbClr val="FFFFFF"/>
                </a:solidFill>
                <a:latin typeface="Nunito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1900" y="3365500"/>
            <a:ext cx="55245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82"/>
              </a:lnSpc>
            </a:pPr>
            <a:r>
              <a:rPr sz="1600" b="0">
                <a:solidFill>
                  <a:srgbClr val="231F20"/>
                </a:solidFill>
                <a:latin typeface="Nunito Sans"/>
              </a:rPr>
              <a:t>Tap the link that pops up</a:t>
            </a:r>
          </a:p>
        </p:txBody>
      </p:sp>
      <p:sp>
        <p:nvSpPr>
          <p:cNvPr id="15" name="Oval 14"/>
          <p:cNvSpPr/>
          <p:nvPr/>
        </p:nvSpPr>
        <p:spPr>
          <a:xfrm>
            <a:off x="812800" y="3733800"/>
            <a:ext cx="304800" cy="30480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540"/>
              </a:lnSpc>
            </a:pPr>
            <a:r>
              <a:rPr sz="1400" b="1">
                <a:solidFill>
                  <a:srgbClr val="FFFFFF"/>
                </a:solidFill>
                <a:latin typeface="Nunito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1900" y="3746500"/>
            <a:ext cx="552450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82"/>
              </a:lnSpc>
            </a:pPr>
            <a:r>
              <a:rPr sz="1600" b="0">
                <a:solidFill>
                  <a:srgbClr val="231F20"/>
                </a:solidFill>
                <a:latin typeface="Nunito Sans"/>
              </a:rPr>
              <a:t>If a cookie notice covers the page, tap X</a:t>
            </a:r>
          </a:p>
        </p:txBody>
      </p:sp>
      <p:sp>
        <p:nvSpPr>
          <p:cNvPr id="17" name="Button: No phone? Open it on the laptop">
            <a:hlinkClick r:id="rId2"/>
          </p:cNvPr>
          <p:cNvSpPr/>
          <p:nvPr/>
        </p:nvSpPr>
        <p:spPr>
          <a:xfrm>
            <a:off x="822325" y="4619625"/>
            <a:ext cx="3740150" cy="438150"/>
          </a:xfrm>
          <a:prstGeom prst="roundRect">
            <a:avLst>
              <a:gd name="adj" fmla="val 50000"/>
            </a:avLst>
          </a:prstGeom>
          <a:solidFill>
            <a:srgbClr val="FBFAF8"/>
          </a:solidFill>
          <a:ln w="19050">
            <a:solidFill>
              <a:srgbClr val="C62828"/>
            </a:solidFill>
          </a:ln>
        </p:spPr>
        <p:txBody>
          <a:bodyPr rtlCol="0" anchor="ctr" wrap="square" lIns="129893" tIns="0" rIns="409293" bIns="0">
            <a:noAutofit/>
          </a:bodyPr>
          <a:lstStyle/>
          <a:p>
            <a:pPr algn="ctr">
              <a:lnSpc>
                <a:spcPts val="1909"/>
              </a:lnSpc>
            </a:pPr>
            <a:r>
              <a:rPr sz="1400" b="1">
                <a:solidFill>
                  <a:srgbClr val="C62828"/>
                </a:solidFill>
                <a:latin typeface="Nunito Sans"/>
              </a:rPr>
              <a:t>No phone? Open it on the laptop</a:t>
            </a:r>
          </a:p>
        </p:txBody>
      </p:sp>
      <p:sp>
        <p:nvSpPr>
          <p:cNvPr id="18" name="Link arrow">
            <a:hlinkClick r:id="rId2"/>
          </p:cNvPr>
          <p:cNvSpPr/>
          <p:nvPr/>
        </p:nvSpPr>
        <p:spPr>
          <a:xfrm>
            <a:off x="4240212" y="4799012"/>
            <a:ext cx="79376" cy="79376"/>
          </a:xfrm>
          <a:custGeom>
            <a:avLst/>
            <a:gdLst/>
            <a:ahLst/>
            <a:cxnLst/>
            <a:rect l="l" t="t" r="r" b="b"/>
            <a:pathLst>
              <a:path w="79376" h="79376">
                <a:moveTo>
                  <a:pt x="0" y="0"/>
                </a:moveTo>
                <a:lnTo>
                  <a:pt x="79376" y="0"/>
                </a:lnTo>
                <a:lnTo>
                  <a:pt x="79376" y="79376"/>
                </a:lnTo>
                <a:moveTo>
                  <a:pt x="0" y="79376"/>
                </a:moveTo>
                <a:lnTo>
                  <a:pt x="79376" y="0"/>
                </a:lnTo>
              </a:path>
            </a:pathLst>
          </a:custGeom>
          <a:noFill/>
          <a:ln w="20638" cap="rnd">
            <a:solidFill>
              <a:srgbClr val="C6282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800" y="5219700"/>
            <a:ext cx="5943600" cy="774700"/>
          </a:xfrm>
          <a:prstGeom prst="roundRect">
            <a:avLst>
              <a:gd name="adj" fmla="val 6557"/>
            </a:avLst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3600" y="5219700"/>
            <a:ext cx="5892800" cy="774700"/>
          </a:xfrm>
          <a:prstGeom prst="roundRect">
            <a:avLst>
              <a:gd name="adj" fmla="val 6557"/>
            </a:avLst>
          </a:prstGeom>
          <a:solidFill>
            <a:srgbClr val="FFF4D1"/>
          </a:solidFill>
          <a:ln>
            <a:noFill/>
          </a:ln>
        </p:spPr>
        <p:txBody>
          <a:bodyPr rtlCol="0" anchor="t" wrap="square" lIns="165100" tIns="101600" rIns="165100" bIns="101600">
            <a:noAutofit/>
          </a:bodyPr>
          <a:lstStyle/>
          <a:p>
            <a:pPr algn="l">
              <a:lnSpc>
                <a:spcPts val="2046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Say “done” when you finish, then rate the task</a:t>
            </a:r>
            <a:br/>
            <a:r>
              <a:rPr sz="1500" b="0">
                <a:solidFill>
                  <a:srgbClr val="231F20"/>
                </a:solidFill>
                <a:latin typeface="Nunito Sans"/>
              </a:rPr>
              <a:t>from 1 (very hard) to 5 (very easy).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1550" y="962025"/>
            <a:ext cx="4051300" cy="4679950"/>
          </a:xfrm>
          <a:prstGeom prst="roundRect">
            <a:avLst>
              <a:gd name="adj" fmla="val 4388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  <a:effectLst>
            <a:outerShdw blurRad="254000" dist="114300" dir="5400000" algn="t" rotWithShape="0">
              <a:srgbClr val="231F20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QR code that opens the APSS home page of the prototype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1133475"/>
            <a:ext cx="3708400" cy="3708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93000" y="4930775"/>
            <a:ext cx="3708400" cy="317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2318"/>
              </a:lnSpc>
            </a:pPr>
            <a:r>
              <a:rPr sz="1700" b="1">
                <a:solidFill>
                  <a:srgbClr val="231F20"/>
                </a:solidFill>
                <a:latin typeface="Nunito Sans"/>
              </a:rPr>
              <a:t>Scan with your phone camera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3000" y="5250815"/>
            <a:ext cx="37084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Opens the APSS home page on your phone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11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09600"/>
            <a:ext cx="10566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Question 1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092200"/>
            <a:ext cx="10160000" cy="2006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894"/>
              </a:lnSpc>
            </a:pPr>
            <a:r>
              <a:rPr sz="3300" b="1">
                <a:solidFill>
                  <a:srgbClr val="231F20"/>
                </a:solidFill>
                <a:latin typeface="Nunito Sans"/>
              </a:rPr>
              <a:t>What three words describe the research site? How does it compare with the current research page?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09600"/>
            <a:ext cx="10566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Question 2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092200"/>
            <a:ext cx="10160000" cy="2006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894"/>
              </a:lnSpc>
            </a:pPr>
            <a:r>
              <a:rPr sz="3300" b="1">
                <a:solidFill>
                  <a:srgbClr val="231F20"/>
                </a:solidFill>
                <a:latin typeface="Nunito Sans"/>
              </a:rPr>
              <a:t>Was anything you expected to click not clickable, or did anything take you somewhere unexpected?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13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09600"/>
            <a:ext cx="10566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Question 3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52500"/>
            <a:ext cx="10566400" cy="469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231F20"/>
                </a:solidFill>
                <a:latin typeface="Nunito Sans"/>
              </a:rPr>
              <a:t>One site or two?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50" y="1682750"/>
            <a:ext cx="5181600" cy="1784350"/>
          </a:xfrm>
          <a:prstGeom prst="roundRect">
            <a:avLst>
              <a:gd name="adj" fmla="val 7117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1400" y="1879600"/>
            <a:ext cx="406400" cy="406400"/>
          </a:xfrm>
          <a:prstGeom prst="ellipse">
            <a:avLst/>
          </a:prstGeom>
          <a:solidFill>
            <a:srgbClr val="231F2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2400300"/>
            <a:ext cx="4737100" cy="292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231F20"/>
                </a:solidFill>
                <a:latin typeface="Nunito Sans"/>
              </a:rPr>
              <a:t>One combined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36850"/>
            <a:ext cx="4737100" cy="546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Research is a section inside the main APSS website.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250" y="1682750"/>
            <a:ext cx="5181600" cy="1784350"/>
          </a:xfrm>
          <a:prstGeom prst="roundRect">
            <a:avLst>
              <a:gd name="adj" fmla="val 7117"/>
            </a:avLst>
          </a:prstGeom>
          <a:solidFill>
            <a:srgbClr val="FFFFFF"/>
          </a:solidFill>
          <a:ln w="12700">
            <a:solidFill>
              <a:srgbClr val="DDD8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13500" y="1879600"/>
            <a:ext cx="406400" cy="406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1">
                <a:solidFill>
                  <a:srgbClr val="FFFFFF"/>
                </a:solidFill>
                <a:latin typeface="Nunito San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500" y="2400300"/>
            <a:ext cx="4737100" cy="292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231F20"/>
                </a:solidFill>
                <a:latin typeface="Nunito Sans"/>
              </a:rPr>
              <a:t>Two linked 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3500" y="2736850"/>
            <a:ext cx="4737100" cy="546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>
                <a:solidFill>
                  <a:srgbClr val="231F20"/>
                </a:solidFill>
                <a:latin typeface="Nunito Sans"/>
              </a:rPr>
              <a:t>A separate research site, linked from the main APSS site. This is what you just tested.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752850"/>
            <a:ext cx="10566400" cy="355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700"/>
              </a:lnSpc>
            </a:pPr>
            <a:r>
              <a:rPr sz="2000" b="1">
                <a:solidFill>
                  <a:srgbClr val="231F20"/>
                </a:solidFill>
                <a:latin typeface="Nunito Sans"/>
              </a:rPr>
              <a:t>Which would work better for APSS and the people who use it?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6369050"/>
            <a:ext cx="635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ENSE 271 · Group B · APSS usability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9200" y="6369050"/>
            <a:ext cx="12700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ts val="1636"/>
              </a:lnSpc>
            </a:pPr>
            <a:r>
              <a:rPr sz="1200" b="0">
                <a:solidFill>
                  <a:srgbClr val="5F5B59"/>
                </a:solidFill>
                <a:latin typeface="Nunito Sans"/>
              </a:rP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09600"/>
            <a:ext cx="10566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C62828"/>
                </a:solidFill>
                <a:latin typeface="Nunito Sans"/>
              </a:rPr>
              <a:t>Question 4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092200"/>
            <a:ext cx="10160000" cy="2006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3894"/>
              </a:lnSpc>
            </a:pPr>
            <a:r>
              <a:rPr sz="3300" b="1">
                <a:solidFill>
                  <a:srgbClr val="231F20"/>
                </a:solidFill>
                <a:latin typeface="Nunito Sans"/>
              </a:rPr>
              <a:t>Are there any improvements you would suggest? What are they?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78240" cy="76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760" cy="76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889250"/>
            <a:ext cx="105664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1773"/>
              </a:lnSpc>
            </a:pPr>
            <a:r>
              <a:rPr sz="1300" b="1" spc="130" cap="all">
                <a:solidFill>
                  <a:srgbClr val="F4B400"/>
                </a:solidFill>
                <a:latin typeface="Nunito Sans"/>
              </a:rPr>
              <a:t>ENSE 271 · Group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244850"/>
            <a:ext cx="10566400" cy="749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5712"/>
              </a:lnSpc>
            </a:pPr>
            <a:r>
              <a:rPr sz="5600" b="1">
                <a:solidFill>
                  <a:srgbClr val="F6F2EE"/>
                </a:solidFill>
                <a:latin typeface="Nunito Sans"/>
              </a:rPr>
              <a:t>Thank you, Erin and Tim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unito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APSS Usability Session (ENSE 271 Group B)</dc:title>
  <dc:subject>Checkpoint #2 usability session, October 21, 2026</dc:subject>
  <dc:creator>ENSE 271 Group B</dc:creator>
  <cp:keywords/>
  <dc:description/>
  <cp:lastModifiedBy>ENSE 271 Group B</cp:lastModifiedBy>
  <cp:revision>1</cp:revision>
  <dcterms:created xsi:type="dcterms:W3CDTF">2026-10-21T16:54:27Z</dcterms:created>
  <dcterms:modified xsi:type="dcterms:W3CDTF">2026-10-21T16:54:27Z</dcterms:modified>
  <cp:category/>
</cp:coreProperties>
</file>